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roxima Nova" panose="020B0604020202020204" charset="0"/>
      <p:regular r:id="rId14"/>
    </p:embeddedFont>
    <p:embeddedFont>
      <p:font typeface="Proxima Nova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24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2.svg"/><Relationship Id="rId7" Type="http://schemas.openxmlformats.org/officeDocument/2006/relationships/image" Target="../media/image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2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tawsifurrahman/tuberculosis-tb-chest-xray-dataset" TargetMode="External"/><Relationship Id="rId3" Type="http://schemas.openxmlformats.org/officeDocument/2006/relationships/image" Target="../media/image28.svg"/><Relationship Id="rId7" Type="http://schemas.openxmlformats.org/officeDocument/2006/relationships/image" Target="../media/image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hyperlink" Target="https://www.kaggle.com/datasets/tawsifurrahman/covid19-radiography-databas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2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00000">
            <a:off x="-2636533" y="-3185942"/>
            <a:ext cx="7273962" cy="6996229"/>
          </a:xfrm>
          <a:custGeom>
            <a:avLst/>
            <a:gdLst/>
            <a:ahLst/>
            <a:cxnLst/>
            <a:rect l="l" t="t" r="r" b="b"/>
            <a:pathLst>
              <a:path w="7273962" h="6996229">
                <a:moveTo>
                  <a:pt x="0" y="0"/>
                </a:moveTo>
                <a:lnTo>
                  <a:pt x="7273961" y="0"/>
                </a:lnTo>
                <a:lnTo>
                  <a:pt x="7273961" y="6996229"/>
                </a:lnTo>
                <a:lnTo>
                  <a:pt x="0" y="6996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353143" y="2680250"/>
            <a:ext cx="10867464" cy="8180236"/>
          </a:xfrm>
          <a:custGeom>
            <a:avLst/>
            <a:gdLst/>
            <a:ahLst/>
            <a:cxnLst/>
            <a:rect l="l" t="t" r="r" b="b"/>
            <a:pathLst>
              <a:path w="10867464" h="8180236">
                <a:moveTo>
                  <a:pt x="0" y="0"/>
                </a:moveTo>
                <a:lnTo>
                  <a:pt x="10867464" y="0"/>
                </a:lnTo>
                <a:lnTo>
                  <a:pt x="10867464" y="8180236"/>
                </a:lnTo>
                <a:lnTo>
                  <a:pt x="0" y="8180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4200000">
            <a:off x="13259100" y="6567986"/>
            <a:ext cx="6462252" cy="6019343"/>
          </a:xfrm>
          <a:custGeom>
            <a:avLst/>
            <a:gdLst/>
            <a:ahLst/>
            <a:cxnLst/>
            <a:rect l="l" t="t" r="r" b="b"/>
            <a:pathLst>
              <a:path w="6462252" h="6286009">
                <a:moveTo>
                  <a:pt x="0" y="0"/>
                </a:moveTo>
                <a:lnTo>
                  <a:pt x="6462252" y="0"/>
                </a:lnTo>
                <a:lnTo>
                  <a:pt x="6462252" y="6286008"/>
                </a:lnTo>
                <a:lnTo>
                  <a:pt x="0" y="6286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D41F1-B5A4-31AA-6736-8C259BBB5ACD}"/>
              </a:ext>
            </a:extLst>
          </p:cNvPr>
          <p:cNvSpPr txBox="1"/>
          <p:nvPr/>
        </p:nvSpPr>
        <p:spPr>
          <a:xfrm>
            <a:off x="6541281" y="1943100"/>
            <a:ext cx="1182291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Title: Multi-Disease Chest X-ray Classifier </a:t>
            </a:r>
          </a:p>
          <a:p>
            <a:pPr algn="ctr"/>
            <a:r>
              <a:rPr lang="en-US" sz="4400" b="1" dirty="0"/>
              <a:t>Name : Raj Koyani</a:t>
            </a:r>
          </a:p>
          <a:p>
            <a:pPr algn="ctr"/>
            <a:r>
              <a:rPr lang="en-US" sz="4400" b="1" dirty="0"/>
              <a:t>Reg no : 21MIS1017 </a:t>
            </a:r>
          </a:p>
          <a:p>
            <a:pPr algn="ctr"/>
            <a:r>
              <a:rPr lang="en-US" sz="4400" b="1" dirty="0"/>
              <a:t>Guide : </a:t>
            </a:r>
            <a:r>
              <a:rPr lang="en-US" sz="4400" b="1" dirty="0" err="1"/>
              <a:t>Dr.Brindha</a:t>
            </a:r>
            <a:r>
              <a:rPr lang="en-US" sz="4400" b="1" dirty="0"/>
              <a:t> V</a:t>
            </a:r>
            <a:endParaRPr lang="en-IN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24899" y="628415"/>
            <a:ext cx="6364003" cy="9186881"/>
          </a:xfrm>
          <a:custGeom>
            <a:avLst/>
            <a:gdLst/>
            <a:ahLst/>
            <a:cxnLst/>
            <a:rect l="l" t="t" r="r" b="b"/>
            <a:pathLst>
              <a:path w="6364003" h="9186881">
                <a:moveTo>
                  <a:pt x="6364003" y="0"/>
                </a:moveTo>
                <a:lnTo>
                  <a:pt x="0" y="0"/>
                </a:lnTo>
                <a:lnTo>
                  <a:pt x="0" y="9186881"/>
                </a:lnTo>
                <a:lnTo>
                  <a:pt x="6364003" y="9186881"/>
                </a:lnTo>
                <a:lnTo>
                  <a:pt x="63640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9851465" cy="10648009"/>
            <a:chOff x="42136" y="10432"/>
            <a:chExt cx="4270789" cy="4616105"/>
          </a:xfrm>
        </p:grpSpPr>
        <p:sp>
          <p:nvSpPr>
            <p:cNvPr id="4" name="Freeform 4"/>
            <p:cNvSpPr/>
            <p:nvPr/>
          </p:nvSpPr>
          <p:spPr>
            <a:xfrm>
              <a:off x="42136" y="10432"/>
              <a:ext cx="4270789" cy="4616105"/>
            </a:xfrm>
            <a:custGeom>
              <a:avLst/>
              <a:gdLst/>
              <a:ahLst/>
              <a:cxnLst/>
              <a:rect l="l" t="t" r="r" b="b"/>
              <a:pathLst>
                <a:path w="4270789" h="4616105">
                  <a:moveTo>
                    <a:pt x="0" y="0"/>
                  </a:moveTo>
                  <a:lnTo>
                    <a:pt x="4270789" y="0"/>
                  </a:lnTo>
                  <a:lnTo>
                    <a:pt x="4270789" y="4616105"/>
                  </a:lnTo>
                  <a:lnTo>
                    <a:pt x="0" y="4616105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0645" y="1200124"/>
            <a:ext cx="8335786" cy="10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 spc="67" dirty="0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TODAY'S AGENDA</a:t>
            </a:r>
          </a:p>
        </p:txBody>
      </p:sp>
      <p:sp>
        <p:nvSpPr>
          <p:cNvPr id="7" name="Freeform 7"/>
          <p:cNvSpPr/>
          <p:nvPr/>
        </p:nvSpPr>
        <p:spPr>
          <a:xfrm rot="10500000">
            <a:off x="-2524136" y="8477491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9" y="0"/>
                </a:lnTo>
                <a:lnTo>
                  <a:pt x="5893519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5100000">
            <a:off x="14819493" y="-2463409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4B19FBA-DB8E-09DA-27DD-58A1EE2A9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478952"/>
            <a:ext cx="1567468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    Introduction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    Literature Review 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    Scope and Problem Statement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    Research Challenges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    Research Objective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    Methodology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    Dataset Description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    Snapshot of Guide Approval Email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     References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776" y="1028700"/>
            <a:ext cx="7817064" cy="8348320"/>
          </a:xfrm>
          <a:custGeom>
            <a:avLst/>
            <a:gdLst/>
            <a:ahLst/>
            <a:cxnLst/>
            <a:rect l="l" t="t" r="r" b="b"/>
            <a:pathLst>
              <a:path w="7817064" h="8348320">
                <a:moveTo>
                  <a:pt x="0" y="0"/>
                </a:moveTo>
                <a:lnTo>
                  <a:pt x="7817064" y="0"/>
                </a:lnTo>
                <a:lnTo>
                  <a:pt x="7817064" y="8348320"/>
                </a:lnTo>
                <a:lnTo>
                  <a:pt x="0" y="8348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9473440" y="-263814"/>
            <a:ext cx="9092259" cy="10814628"/>
            <a:chOff x="0" y="0"/>
            <a:chExt cx="3941659" cy="46883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41659" cy="4688337"/>
            </a:xfrm>
            <a:custGeom>
              <a:avLst/>
              <a:gdLst/>
              <a:ahLst/>
              <a:cxnLst/>
              <a:rect l="l" t="t" r="r" b="b"/>
              <a:pathLst>
                <a:path w="3941659" h="4688337">
                  <a:moveTo>
                    <a:pt x="0" y="0"/>
                  </a:moveTo>
                  <a:lnTo>
                    <a:pt x="3941659" y="0"/>
                  </a:lnTo>
                  <a:lnTo>
                    <a:pt x="3941659" y="4688337"/>
                  </a:lnTo>
                  <a:lnTo>
                    <a:pt x="0" y="4688337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470275" y="1000125"/>
            <a:ext cx="6931969" cy="10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 spc="67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 rot="7920000">
            <a:off x="14275594" y="8369075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8" y="0"/>
                </a:lnTo>
                <a:lnTo>
                  <a:pt x="5893518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3900000">
            <a:off x="-3214561" y="-2836555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50127B-A9D9-E991-1AAA-3D8226147BC0}"/>
              </a:ext>
            </a:extLst>
          </p:cNvPr>
          <p:cNvSpPr txBox="1"/>
          <p:nvPr/>
        </p:nvSpPr>
        <p:spPr>
          <a:xfrm>
            <a:off x="9829800" y="2061845"/>
            <a:ext cx="84582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goal of this project is to develop a deep learning-based </a:t>
            </a:r>
            <a:r>
              <a:rPr lang="en-US" sz="3200" b="1" dirty="0"/>
              <a:t>multi-disease chest X-ray classifier</a:t>
            </a:r>
            <a:r>
              <a:rPr lang="en-US" sz="3200" dirty="0"/>
              <a:t> using </a:t>
            </a:r>
            <a:r>
              <a:rPr lang="en-US" sz="3200" b="1" dirty="0"/>
              <a:t>DenseNet121</a:t>
            </a:r>
            <a:r>
              <a:rPr lang="en-US" sz="3200" dirty="0"/>
              <a:t>  ,  </a:t>
            </a:r>
            <a:r>
              <a:rPr lang="en-US" sz="3200" b="1" dirty="0"/>
              <a:t>Swin-Transformer </a:t>
            </a:r>
            <a:r>
              <a:rPr lang="en-US" sz="3200" dirty="0"/>
              <a:t>integrated with </a:t>
            </a:r>
            <a:r>
              <a:rPr lang="en-US" sz="3200" b="1" dirty="0"/>
              <a:t>GRADCAM </a:t>
            </a:r>
            <a:r>
              <a:rPr lang="en-US" sz="3200" dirty="0"/>
              <a:t>The system is designed to classify multiple respiratory diseases such as Viral </a:t>
            </a:r>
            <a:r>
              <a:rPr lang="en-US" sz="3200" b="1" dirty="0"/>
              <a:t>Pneumonia</a:t>
            </a:r>
            <a:r>
              <a:rPr lang="en-US" sz="3200" dirty="0"/>
              <a:t>, </a:t>
            </a:r>
            <a:r>
              <a:rPr lang="en-US" sz="3200" b="1" dirty="0"/>
              <a:t>Tuberculosis (TB)</a:t>
            </a:r>
            <a:r>
              <a:rPr lang="en-US" sz="3200" dirty="0"/>
              <a:t>, </a:t>
            </a:r>
            <a:r>
              <a:rPr lang="en-US" sz="3200" b="1" dirty="0"/>
              <a:t>COVID-19</a:t>
            </a:r>
            <a:r>
              <a:rPr lang="en-US" sz="3200" dirty="0"/>
              <a:t>, and </a:t>
            </a:r>
            <a:r>
              <a:rPr lang="en-US" sz="3200" b="1" dirty="0"/>
              <a:t>Lung Opacity, Normal</a:t>
            </a:r>
            <a:r>
              <a:rPr lang="en-US" sz="3200" dirty="0"/>
              <a:t>. Additionally, the model is equipped with </a:t>
            </a:r>
            <a:r>
              <a:rPr lang="en-US" sz="3200" b="1" dirty="0"/>
              <a:t>Explainable AI</a:t>
            </a:r>
            <a:r>
              <a:rPr lang="en-US" sz="3200" dirty="0"/>
              <a:t> capabilities like </a:t>
            </a:r>
            <a:r>
              <a:rPr lang="en-US" sz="3200" b="1" dirty="0"/>
              <a:t>Grad-CAM</a:t>
            </a:r>
            <a:r>
              <a:rPr lang="en-US" sz="3200" dirty="0"/>
              <a:t>, which will help visualize the regions of the chest X-ray most relevant to the model's prediction, aiding clinical interpretation and supporting radiologists in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40803" y="540941"/>
            <a:ext cx="5656618" cy="9286985"/>
          </a:xfrm>
          <a:custGeom>
            <a:avLst/>
            <a:gdLst/>
            <a:ahLst/>
            <a:cxnLst/>
            <a:rect l="l" t="t" r="r" b="b"/>
            <a:pathLst>
              <a:path w="5656618" h="9286985">
                <a:moveTo>
                  <a:pt x="0" y="0"/>
                </a:moveTo>
                <a:lnTo>
                  <a:pt x="5656618" y="0"/>
                </a:lnTo>
                <a:lnTo>
                  <a:pt x="5656618" y="9286985"/>
                </a:lnTo>
                <a:lnTo>
                  <a:pt x="0" y="928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194389" y="-222159"/>
            <a:ext cx="10041243" cy="10731318"/>
            <a:chOff x="0" y="0"/>
            <a:chExt cx="4353061" cy="46522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3061" cy="4652221"/>
            </a:xfrm>
            <a:custGeom>
              <a:avLst/>
              <a:gdLst/>
              <a:ahLst/>
              <a:cxnLst/>
              <a:rect l="l" t="t" r="r" b="b"/>
              <a:pathLst>
                <a:path w="4353061" h="4652221">
                  <a:moveTo>
                    <a:pt x="0" y="0"/>
                  </a:moveTo>
                  <a:lnTo>
                    <a:pt x="4353061" y="0"/>
                  </a:lnTo>
                  <a:lnTo>
                    <a:pt x="4353061" y="4652221"/>
                  </a:lnTo>
                  <a:lnTo>
                    <a:pt x="0" y="4652221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40061" y="1000125"/>
            <a:ext cx="8403939" cy="101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 spc="67" dirty="0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Literature Review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9971" y="2030180"/>
            <a:ext cx="8977429" cy="7635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1. "Deep Learning for Chest X-ray Analysis: A Survey"</a:t>
            </a:r>
          </a:p>
          <a:p>
            <a:r>
              <a:rPr lang="en-US" sz="2400" b="1" dirty="0"/>
              <a:t>Authors:</a:t>
            </a:r>
            <a:r>
              <a:rPr lang="en-US" sz="2400" dirty="0"/>
              <a:t> A. Rajaraman, A. </a:t>
            </a:r>
            <a:r>
              <a:rPr lang="en-US" sz="2400" dirty="0" err="1"/>
              <a:t>Sivaswamy</a:t>
            </a:r>
            <a:endParaRPr lang="en-US" sz="2400" dirty="0"/>
          </a:p>
          <a:p>
            <a:r>
              <a:rPr lang="en-US" sz="2400" b="1" dirty="0"/>
              <a:t>Summary:</a:t>
            </a:r>
            <a:r>
              <a:rPr lang="en-US" sz="2400" dirty="0"/>
              <a:t> This paper reviews the application of deep learning techniques for analyzing chest X-rays. It covers different architectures like CNNs, </a:t>
            </a:r>
            <a:r>
              <a:rPr lang="en-US" sz="2400" dirty="0" err="1"/>
              <a:t>DenseNet</a:t>
            </a:r>
            <a:r>
              <a:rPr lang="en-US" sz="2400" dirty="0"/>
              <a:t>, and </a:t>
            </a:r>
            <a:r>
              <a:rPr lang="en-US" sz="2400" dirty="0" err="1"/>
              <a:t>ResNet</a:t>
            </a:r>
            <a:r>
              <a:rPr lang="en-US" sz="2400" dirty="0"/>
              <a:t>, and explores challenges in terms of data quality, model interpretability, and clinical implementation.</a:t>
            </a:r>
          </a:p>
          <a:p>
            <a:r>
              <a:rPr lang="en-US" sz="2400" b="1" dirty="0"/>
              <a:t>2. "COVID-19 Chest X-ray Classification Using Deep Convolutional Neural Networks"</a:t>
            </a:r>
          </a:p>
          <a:p>
            <a:r>
              <a:rPr lang="en-US" sz="2400" b="1" dirty="0"/>
              <a:t>Authors:</a:t>
            </a:r>
            <a:r>
              <a:rPr lang="en-US" sz="2400" dirty="0"/>
              <a:t> S. Hemalatha, M. V. Shashidhar</a:t>
            </a:r>
          </a:p>
          <a:p>
            <a:r>
              <a:rPr lang="en-US" sz="2400" b="1" dirty="0"/>
              <a:t>Summary:</a:t>
            </a:r>
            <a:r>
              <a:rPr lang="en-US" sz="2400" dirty="0"/>
              <a:t> The paper investigates the use of deep CNNs, particularly </a:t>
            </a:r>
            <a:r>
              <a:rPr lang="en-US" sz="2400" dirty="0" err="1"/>
              <a:t>DenseNet</a:t>
            </a:r>
            <a:r>
              <a:rPr lang="en-US" sz="2400" dirty="0"/>
              <a:t>, for the classification of COVID-19 in chest X-rays. It provides insights into the architectural design and optimization for disease detection in medical imaging.</a:t>
            </a:r>
          </a:p>
          <a:p>
            <a:r>
              <a:rPr lang="en-US" sz="2400" b="1" dirty="0"/>
              <a:t>3. "A Survey on Deep Learning in Medical Image Analysis"</a:t>
            </a:r>
          </a:p>
          <a:p>
            <a:r>
              <a:rPr lang="en-US" sz="2400" b="1" dirty="0"/>
              <a:t>Authors:</a:t>
            </a:r>
            <a:r>
              <a:rPr lang="en-US" sz="2400" dirty="0"/>
              <a:t> M. </a:t>
            </a:r>
            <a:r>
              <a:rPr lang="en-US" sz="2400" dirty="0" err="1"/>
              <a:t>Litjens</a:t>
            </a:r>
            <a:r>
              <a:rPr lang="en-US" sz="2400" dirty="0"/>
              <a:t>, T. Kooi, B. </a:t>
            </a:r>
            <a:r>
              <a:rPr lang="en-US" sz="2400" dirty="0" err="1"/>
              <a:t>Ehteshami</a:t>
            </a:r>
            <a:r>
              <a:rPr lang="en-US" sz="2400" dirty="0"/>
              <a:t> </a:t>
            </a:r>
            <a:r>
              <a:rPr lang="en-US" sz="2400" dirty="0" err="1"/>
              <a:t>Bejnordi</a:t>
            </a:r>
            <a:r>
              <a:rPr lang="en-US" sz="2400" dirty="0"/>
              <a:t>, et al.</a:t>
            </a:r>
          </a:p>
          <a:p>
            <a:r>
              <a:rPr lang="en-US" sz="2400" b="1" dirty="0"/>
              <a:t>Summary:</a:t>
            </a:r>
            <a:r>
              <a:rPr lang="en-US" sz="2400" dirty="0"/>
              <a:t> This extensive review covers various deep learning techniques applied to medical image analysis, including chest X-rays. The authors discuss architecture-specific performance metrics and challenges, including the use of Grad-CAM for explainability.</a:t>
            </a:r>
          </a:p>
          <a:p>
            <a:pPr marL="410210" lvl="1" algn="l">
              <a:lnSpc>
                <a:spcPts val="5319"/>
              </a:lnSpc>
            </a:pPr>
            <a:endParaRPr lang="en-US" sz="3799" dirty="0">
              <a:solidFill>
                <a:srgbClr val="1C737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Freeform 7"/>
          <p:cNvSpPr/>
          <p:nvPr/>
        </p:nvSpPr>
        <p:spPr>
          <a:xfrm rot="10500000">
            <a:off x="-2524136" y="8477491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9" y="0"/>
                </a:lnTo>
                <a:lnTo>
                  <a:pt x="5893519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5100000">
            <a:off x="14819493" y="-2463409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17499"/>
            <a:ext cx="11353191" cy="9990808"/>
          </a:xfrm>
          <a:custGeom>
            <a:avLst/>
            <a:gdLst/>
            <a:ahLst/>
            <a:cxnLst/>
            <a:rect l="l" t="t" r="r" b="b"/>
            <a:pathLst>
              <a:path w="11353191" h="9990808">
                <a:moveTo>
                  <a:pt x="0" y="0"/>
                </a:moveTo>
                <a:lnTo>
                  <a:pt x="11353191" y="0"/>
                </a:lnTo>
                <a:lnTo>
                  <a:pt x="11353191" y="9990808"/>
                </a:lnTo>
                <a:lnTo>
                  <a:pt x="0" y="9990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9592540" y="0"/>
            <a:ext cx="8925640" cy="10648009"/>
            <a:chOff x="0" y="0"/>
            <a:chExt cx="3869427" cy="46161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69427" cy="4616105"/>
            </a:xfrm>
            <a:custGeom>
              <a:avLst/>
              <a:gdLst/>
              <a:ahLst/>
              <a:cxnLst/>
              <a:rect l="l" t="t" r="r" b="b"/>
              <a:pathLst>
                <a:path w="3869427" h="4616105">
                  <a:moveTo>
                    <a:pt x="0" y="0"/>
                  </a:moveTo>
                  <a:lnTo>
                    <a:pt x="3869427" y="0"/>
                  </a:lnTo>
                  <a:lnTo>
                    <a:pt x="3869427" y="4616105"/>
                  </a:lnTo>
                  <a:lnTo>
                    <a:pt x="0" y="4616105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13730" y="3447246"/>
            <a:ext cx="7045060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dirty="0">
                <a:solidFill>
                  <a:srgbClr val="1C7378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</p:txBody>
      </p:sp>
      <p:sp>
        <p:nvSpPr>
          <p:cNvPr id="7" name="Freeform 7"/>
          <p:cNvSpPr/>
          <p:nvPr/>
        </p:nvSpPr>
        <p:spPr>
          <a:xfrm rot="7920000">
            <a:off x="14275594" y="8369075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8" y="0"/>
                </a:lnTo>
                <a:lnTo>
                  <a:pt x="5893518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3900000">
            <a:off x="-3214561" y="-2836555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F4A818-D73F-38EE-869B-C1DC4FAB223F}"/>
              </a:ext>
            </a:extLst>
          </p:cNvPr>
          <p:cNvSpPr txBox="1"/>
          <p:nvPr/>
        </p:nvSpPr>
        <p:spPr>
          <a:xfrm>
            <a:off x="9584519" y="0"/>
            <a:ext cx="8703481" cy="10433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4. "Pneumonia Detection in Chest X-rays Using Convolutional Neural Networks"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M. L. </a:t>
            </a:r>
            <a:r>
              <a:rPr lang="en-US" sz="2400" dirty="0" err="1"/>
              <a:t>Iglewicz</a:t>
            </a:r>
            <a:r>
              <a:rPr lang="en-US" sz="2400" dirty="0"/>
              <a:t>, M. </a:t>
            </a:r>
            <a:r>
              <a:rPr lang="en-US" sz="2400" dirty="0" err="1"/>
              <a:t>Salibian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Focuses on using CNNs for pneumonia detection, comparing different architectures like VGG and </a:t>
            </a:r>
            <a:r>
              <a:rPr lang="en-US" sz="2400" dirty="0" err="1"/>
              <a:t>DenseNet</a:t>
            </a:r>
            <a:r>
              <a:rPr lang="en-US" sz="2400" dirty="0"/>
              <a:t>. The paper explores the effectiveness of automated diagnosis and its potential impact on clinical settings.</a:t>
            </a:r>
          </a:p>
          <a:p>
            <a:pPr>
              <a:buNone/>
            </a:pPr>
            <a:r>
              <a:rPr lang="en-US" sz="2400" b="1" dirty="0"/>
              <a:t>5. "Tuberculosis Detection in Chest X-rays Using Transfer Learning"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T. Singh, R. Ghosal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This paper presents a study using transfer learning techniques on pre-trained models such as </a:t>
            </a:r>
            <a:r>
              <a:rPr lang="en-US" sz="2400" dirty="0" err="1"/>
              <a:t>DenseNet</a:t>
            </a:r>
            <a:r>
              <a:rPr lang="en-US" sz="2400" dirty="0"/>
              <a:t> and InceptionV3 for detecting tuberculosis in chest X-rays. It emphasizes the importance of fine-tuning for improved accuracy in disease-specific tasks.</a:t>
            </a:r>
          </a:p>
          <a:p>
            <a:pPr>
              <a:buNone/>
            </a:pPr>
            <a:r>
              <a:rPr lang="en-US" sz="2400" b="1" dirty="0"/>
              <a:t>6. "Explainable AI for Medical Imaging: A Survey"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M. T. Ribeiro, S. Singh, C. G. M. dos Santos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This paper explores the role of explainable AI (XAI) in medical image analysis, with a focus on tools like Grad-CAM. It discusses how explainability aids in model interpretability, particularly in healthcare applications like disease diagnosis from X-rays.</a:t>
            </a:r>
          </a:p>
          <a:p>
            <a:pPr>
              <a:buNone/>
            </a:pPr>
            <a:r>
              <a:rPr lang="en-US" sz="2400" b="1" dirty="0"/>
              <a:t>7. "Chest X-ray Classification with </a:t>
            </a:r>
            <a:r>
              <a:rPr lang="en-US" sz="2400" b="1" dirty="0" err="1"/>
              <a:t>DenseNet</a:t>
            </a:r>
            <a:r>
              <a:rPr lang="en-US" sz="2400" b="1" dirty="0"/>
              <a:t> and Attention Mechanisms"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H. Zhang, Y. Zhang, Y. Chen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This paper proposes integrating attention mechanisms like CBAM with </a:t>
            </a:r>
            <a:r>
              <a:rPr lang="en-US" sz="2400" dirty="0" err="1"/>
              <a:t>DenseNet</a:t>
            </a:r>
            <a:r>
              <a:rPr lang="en-US" sz="2400" dirty="0"/>
              <a:t> for improved classification of chest X-rays. It showcases how attention models can help the network focus on more critical areas of the image for disease classification.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09325" y="506446"/>
            <a:ext cx="6391190" cy="9324018"/>
          </a:xfrm>
          <a:custGeom>
            <a:avLst/>
            <a:gdLst/>
            <a:ahLst/>
            <a:cxnLst/>
            <a:rect l="l" t="t" r="r" b="b"/>
            <a:pathLst>
              <a:path w="6391190" h="9324018">
                <a:moveTo>
                  <a:pt x="0" y="0"/>
                </a:moveTo>
                <a:lnTo>
                  <a:pt x="6391190" y="0"/>
                </a:lnTo>
                <a:lnTo>
                  <a:pt x="6391190" y="9324018"/>
                </a:lnTo>
                <a:lnTo>
                  <a:pt x="0" y="9324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249929" y="-194389"/>
            <a:ext cx="10549440" cy="10675779"/>
            <a:chOff x="0" y="0"/>
            <a:chExt cx="4573374" cy="4628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73374" cy="4628144"/>
            </a:xfrm>
            <a:custGeom>
              <a:avLst/>
              <a:gdLst/>
              <a:ahLst/>
              <a:cxnLst/>
              <a:rect l="l" t="t" r="r" b="b"/>
              <a:pathLst>
                <a:path w="4573374" h="4628144">
                  <a:moveTo>
                    <a:pt x="0" y="0"/>
                  </a:moveTo>
                  <a:lnTo>
                    <a:pt x="4573374" y="0"/>
                  </a:lnTo>
                  <a:lnTo>
                    <a:pt x="4573374" y="4628144"/>
                  </a:lnTo>
                  <a:lnTo>
                    <a:pt x="0" y="4628144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 rot="10500000">
            <a:off x="-2524136" y="8477491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9" y="0"/>
                </a:lnTo>
                <a:lnTo>
                  <a:pt x="5893519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5100000">
            <a:off x="14819493" y="-2463409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CD633-0116-3C77-6DF1-B399533862EA}"/>
              </a:ext>
            </a:extLst>
          </p:cNvPr>
          <p:cNvSpPr txBox="1"/>
          <p:nvPr/>
        </p:nvSpPr>
        <p:spPr>
          <a:xfrm>
            <a:off x="-4409" y="30079"/>
            <a:ext cx="10058400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8. "Deep Learning for Pneumonia Classification in Chest X-rays Using Transfer Learning"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L. Xie, Q. Lin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The study demonstrates how transfer learning with pre-trained </a:t>
            </a:r>
            <a:r>
              <a:rPr lang="en-US" sz="2400" dirty="0" err="1"/>
              <a:t>DenseNet</a:t>
            </a:r>
            <a:r>
              <a:rPr lang="en-US" sz="2400" dirty="0"/>
              <a:t> and </a:t>
            </a:r>
            <a:r>
              <a:rPr lang="en-US" sz="2400" dirty="0" err="1"/>
              <a:t>ResNet</a:t>
            </a:r>
            <a:r>
              <a:rPr lang="en-US" sz="2400" dirty="0"/>
              <a:t> can significantly enhance pneumonia classification accuracy on chest X-rays. The research also highlights the issue of data scarcity and the need for better pre-processing methods.</a:t>
            </a:r>
          </a:p>
          <a:p>
            <a:pPr>
              <a:buNone/>
            </a:pPr>
            <a:r>
              <a:rPr lang="en-US" sz="2400" b="1" dirty="0"/>
              <a:t>9. "A Deep Learning Framework for Detection of COVID-19 from Chest X-ray Images"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A. R. D. K. Chowdhury, M. F. Bhuiyan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This paper applies deep learning techniques, including </a:t>
            </a:r>
            <a:r>
              <a:rPr lang="en-US" sz="2400" dirty="0" err="1"/>
              <a:t>DenseNet</a:t>
            </a:r>
            <a:r>
              <a:rPr lang="en-US" sz="2400" dirty="0"/>
              <a:t>, to detect COVID-19 from chest X-rays. It discusses how the model was trained on various public datasets and provides a comparison with other existing models.</a:t>
            </a:r>
          </a:p>
          <a:p>
            <a:pPr>
              <a:buNone/>
            </a:pPr>
            <a:r>
              <a:rPr lang="en-US" sz="2400" b="1" dirty="0"/>
              <a:t>10. "Integration of Deep Learning and Explainable AI for Medical Imaging"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J. T. K. Lee, S. C. Choi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This paper combines deep learning with explainable AI methods like Grad-CAM to provide interpretable results in medical image analysis. The paper focuses on enhancing the trust and adoption of AI-based models in the medical field.</a:t>
            </a:r>
          </a:p>
          <a:p>
            <a:pPr>
              <a:buNone/>
            </a:pPr>
            <a:r>
              <a:rPr lang="en-US" sz="2400" b="1" dirty="0"/>
              <a:t>11. "Multi-Class Chest X-ray Classification Using </a:t>
            </a:r>
            <a:r>
              <a:rPr lang="en-US" sz="2400" b="1" dirty="0" err="1"/>
              <a:t>DenseNet</a:t>
            </a:r>
            <a:r>
              <a:rPr lang="en-US" sz="2400" b="1" dirty="0"/>
              <a:t> with CBAM Attention"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Authors:</a:t>
            </a:r>
            <a:r>
              <a:rPr lang="en-US" sz="2400" dirty="0"/>
              <a:t> R. Kumar, N. S. Narayan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This paper presents a multi-class classification approach using </a:t>
            </a:r>
            <a:r>
              <a:rPr lang="en-US" sz="2400" dirty="0" err="1"/>
              <a:t>DenseNet</a:t>
            </a:r>
            <a:r>
              <a:rPr lang="en-US" sz="2400" dirty="0"/>
              <a:t> combined with the CBAM module for chest X-ray images. The study highlights how attention mechanisms improve performance and interpretability for multi-disease classification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00000">
            <a:off x="-3214561" y="-2836555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61921" y="848084"/>
            <a:ext cx="7942727" cy="8861054"/>
          </a:xfrm>
          <a:custGeom>
            <a:avLst/>
            <a:gdLst/>
            <a:ahLst/>
            <a:cxnLst/>
            <a:rect l="l" t="t" r="r" b="b"/>
            <a:pathLst>
              <a:path w="7942727" h="8861054">
                <a:moveTo>
                  <a:pt x="0" y="0"/>
                </a:moveTo>
                <a:lnTo>
                  <a:pt x="7942726" y="0"/>
                </a:lnTo>
                <a:lnTo>
                  <a:pt x="7942726" y="8861054"/>
                </a:lnTo>
                <a:lnTo>
                  <a:pt x="0" y="8861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144000" y="-14037"/>
            <a:ext cx="9199540" cy="10521774"/>
            <a:chOff x="0" y="0"/>
            <a:chExt cx="3988167" cy="45613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88167" cy="4561380"/>
            </a:xfrm>
            <a:custGeom>
              <a:avLst/>
              <a:gdLst/>
              <a:ahLst/>
              <a:cxnLst/>
              <a:rect l="l" t="t" r="r" b="b"/>
              <a:pathLst>
                <a:path w="3988167" h="4561380">
                  <a:moveTo>
                    <a:pt x="0" y="0"/>
                  </a:moveTo>
                  <a:lnTo>
                    <a:pt x="3988167" y="0"/>
                  </a:lnTo>
                  <a:lnTo>
                    <a:pt x="3988167" y="4561380"/>
                  </a:lnTo>
                  <a:lnTo>
                    <a:pt x="0" y="456138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rot="7920000">
            <a:off x="14275594" y="8369075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8" y="0"/>
                </a:lnTo>
                <a:lnTo>
                  <a:pt x="5893518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8CD09-9C24-6F16-3D1A-325FEC6010C0}"/>
              </a:ext>
            </a:extLst>
          </p:cNvPr>
          <p:cNvSpPr txBox="1"/>
          <p:nvPr/>
        </p:nvSpPr>
        <p:spPr>
          <a:xfrm>
            <a:off x="7532848" y="-251153"/>
            <a:ext cx="12753472" cy="1012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3600" b="1" spc="67" dirty="0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Scope and 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628D8-20B7-BEB3-3F7F-7A5CB4E63648}"/>
              </a:ext>
            </a:extLst>
          </p:cNvPr>
          <p:cNvSpPr txBox="1"/>
          <p:nvPr/>
        </p:nvSpPr>
        <p:spPr>
          <a:xfrm>
            <a:off x="9476570" y="1089041"/>
            <a:ext cx="8534400" cy="1975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Scope:</a:t>
            </a:r>
          </a:p>
          <a:p>
            <a:pPr>
              <a:buNone/>
            </a:pPr>
            <a:endParaRPr lang="en-US" sz="2800" b="1" dirty="0"/>
          </a:p>
          <a:p>
            <a:r>
              <a:rPr lang="en-US" b="1" dirty="0"/>
              <a:t>Scope of the Project</a:t>
            </a:r>
          </a:p>
          <a:p>
            <a:r>
              <a:rPr lang="en-US" dirty="0"/>
              <a:t>This project aims to design and develop a </a:t>
            </a:r>
            <a:r>
              <a:rPr lang="en-US" b="1" dirty="0"/>
              <a:t>multi-class chest disease classifier with explainable AI</a:t>
            </a:r>
            <a:r>
              <a:rPr lang="en-US" dirty="0"/>
              <a:t> using deep learning techniques. The scope includes:</a:t>
            </a:r>
          </a:p>
          <a:p>
            <a:r>
              <a:rPr lang="en-US" b="1" dirty="0"/>
              <a:t>Data Utilization:</a:t>
            </a:r>
            <a:endParaRPr lang="en-US" dirty="0"/>
          </a:p>
          <a:p>
            <a:pPr lvl="1"/>
            <a:r>
              <a:rPr lang="en-US" dirty="0"/>
              <a:t>Using a dataset of ~43,000 chest X-ray images spanning </a:t>
            </a:r>
            <a:r>
              <a:rPr lang="en-US" b="1" dirty="0"/>
              <a:t>five categories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Viral Pneumonia</a:t>
            </a:r>
          </a:p>
          <a:p>
            <a:pPr lvl="2"/>
            <a:r>
              <a:rPr lang="en-US" dirty="0"/>
              <a:t>Tuberculosis (TB)</a:t>
            </a:r>
          </a:p>
          <a:p>
            <a:pPr lvl="2"/>
            <a:r>
              <a:rPr lang="en-US" dirty="0"/>
              <a:t>COVID-19</a:t>
            </a:r>
          </a:p>
          <a:p>
            <a:pPr lvl="2"/>
            <a:r>
              <a:rPr lang="en-US" dirty="0"/>
              <a:t>Lung Opacity</a:t>
            </a:r>
          </a:p>
          <a:p>
            <a:pPr lvl="2"/>
            <a:r>
              <a:rPr lang="en-US" dirty="0"/>
              <a:t>Normal</a:t>
            </a:r>
          </a:p>
          <a:p>
            <a:r>
              <a:rPr lang="en-US" b="1" dirty="0"/>
              <a:t>Model Development:</a:t>
            </a:r>
            <a:endParaRPr lang="en-US" dirty="0"/>
          </a:p>
          <a:p>
            <a:pPr lvl="1"/>
            <a:r>
              <a:rPr lang="en-US" dirty="0"/>
              <a:t>Building and training convolutional neural network (CNN) or transformer-based architectures for classification.</a:t>
            </a:r>
          </a:p>
          <a:p>
            <a:pPr lvl="1"/>
            <a:r>
              <a:rPr lang="en-US" dirty="0"/>
              <a:t>Incorporating </a:t>
            </a:r>
            <a:r>
              <a:rPr lang="en-US" b="1" dirty="0"/>
              <a:t>multi-class classification capabilities</a:t>
            </a:r>
            <a:r>
              <a:rPr lang="en-US" dirty="0"/>
              <a:t> to differentiate between multiple diseases and normal cases.</a:t>
            </a:r>
          </a:p>
          <a:p>
            <a:r>
              <a:rPr lang="en-US" b="1" dirty="0"/>
              <a:t>Explainable AI Integration:</a:t>
            </a:r>
            <a:endParaRPr lang="en-US" dirty="0"/>
          </a:p>
          <a:p>
            <a:pPr lvl="1"/>
            <a:r>
              <a:rPr lang="en-US" dirty="0"/>
              <a:t>Implementing XAI techniques (e.g., </a:t>
            </a:r>
            <a:r>
              <a:rPr lang="en-US" b="1" dirty="0"/>
              <a:t>Grad-CAM, LIME, SHAP</a:t>
            </a:r>
            <a:r>
              <a:rPr lang="en-US" dirty="0"/>
              <a:t>) to generate heatmaps or feature importance maps.</a:t>
            </a:r>
          </a:p>
          <a:p>
            <a:pPr lvl="1"/>
            <a:r>
              <a:rPr lang="en-US" dirty="0"/>
              <a:t>Providing </a:t>
            </a:r>
            <a:r>
              <a:rPr lang="en-US" b="1" dirty="0"/>
              <a:t>human-interpretable explanations</a:t>
            </a:r>
            <a:r>
              <a:rPr lang="en-US" dirty="0"/>
              <a:t> that highlight the regions in the X-rays contributing to the decision.</a:t>
            </a:r>
          </a:p>
          <a:p>
            <a:r>
              <a:rPr lang="en-US" b="1" dirty="0"/>
              <a:t>Evaluation and Validation:</a:t>
            </a:r>
            <a:endParaRPr lang="en-US" dirty="0"/>
          </a:p>
          <a:p>
            <a:pPr lvl="1"/>
            <a:r>
              <a:rPr lang="en-US" dirty="0"/>
              <a:t>Measuring performance using metrics such as </a:t>
            </a:r>
            <a:r>
              <a:rPr lang="en-US" b="1" dirty="0"/>
              <a:t>accuracy, precision, recall, F1-score, and AUC-ROC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Comparing results against baseline models and ensuring robustness across disease classes.</a:t>
            </a:r>
          </a:p>
          <a:p>
            <a:r>
              <a:rPr lang="en-US" b="1" dirty="0"/>
              <a:t>Practical Relevance:</a:t>
            </a:r>
            <a:endParaRPr lang="en-US" dirty="0"/>
          </a:p>
          <a:p>
            <a:pPr lvl="1"/>
            <a:r>
              <a:rPr lang="en-US" dirty="0"/>
              <a:t>Supporting radiologists and clinicians in decision-making.</a:t>
            </a:r>
          </a:p>
          <a:p>
            <a:pPr lvl="1"/>
            <a:r>
              <a:rPr lang="en-US" dirty="0"/>
              <a:t>Reducing diagnostic time and error rates.</a:t>
            </a:r>
          </a:p>
          <a:p>
            <a:pPr lvl="1"/>
            <a:r>
              <a:rPr lang="en-US"/>
              <a:t>Enhancing trust in AI systems through interpretability and transparency.</a:t>
            </a:r>
          </a:p>
          <a:p>
            <a:endParaRPr lang="en-US" sz="2800" dirty="0"/>
          </a:p>
          <a:p>
            <a:r>
              <a:rPr lang="en-US" sz="2800" b="1" dirty="0"/>
              <a:t>Problem Statement:</a:t>
            </a:r>
          </a:p>
          <a:p>
            <a:endParaRPr lang="en-US" sz="2800" b="1" dirty="0"/>
          </a:p>
          <a:p>
            <a:r>
              <a:rPr lang="en-US" sz="2800" dirty="0"/>
              <a:t>Respiratory diseases such as </a:t>
            </a:r>
            <a:r>
              <a:rPr lang="en-US" sz="2800" b="1" dirty="0"/>
              <a:t>COVID-19, Viral Pneumonia, Tuberculosis (TB), and Lung Opacity</a:t>
            </a:r>
            <a:r>
              <a:rPr lang="en-US" sz="2800" dirty="0"/>
              <a:t> are among the leading causes of morbidity and mortality worldwide. Chest X-ray imaging is one of the most widely used diagnostic tools due to its cost-effectiveness and accessibility. However, manual interpretation of X-rays requires expert radiologists, is time-consuming, and is prone to subjectivity and diagnostic errors.</a:t>
            </a:r>
          </a:p>
          <a:p>
            <a:r>
              <a:rPr lang="en-US" sz="2800" dirty="0"/>
              <a:t>With the increasing volume of chest X-rays being generated in clinical practice, there is a need for </a:t>
            </a:r>
            <a:r>
              <a:rPr lang="en-US" sz="2800" b="1" dirty="0"/>
              <a:t>automated, accurate, and interpretable systems</a:t>
            </a:r>
            <a:r>
              <a:rPr lang="en-US" sz="2800" dirty="0"/>
              <a:t> that can assist healthcare professionals in the early detection and classification of multiple chest diseases.</a:t>
            </a:r>
          </a:p>
          <a:p>
            <a:r>
              <a:rPr lang="en-US" sz="2800" dirty="0"/>
              <a:t>While many deep learning models can achieve high classification accuracy, their </a:t>
            </a:r>
            <a:r>
              <a:rPr lang="en-US" sz="2800" b="1" dirty="0"/>
              <a:t>black-box nature limits clinical adoption</a:t>
            </a:r>
            <a:r>
              <a:rPr lang="en-US" sz="2800" dirty="0"/>
              <a:t>, as healthcare professionals often require transparency and interpretability to trust AI-driven decisions. Thus, there is a critical need for an </a:t>
            </a:r>
            <a:r>
              <a:rPr lang="en-US" sz="2800" b="1" dirty="0"/>
              <a:t>explainable AI (XAI) based multi-disease classifier</a:t>
            </a:r>
            <a:r>
              <a:rPr lang="en-US" sz="2800" dirty="0"/>
              <a:t> that not only achieves high accuracy but also provides clear visual and textual justifications for its predictions.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29963" y="559152"/>
            <a:ext cx="7328321" cy="13756234"/>
          </a:xfrm>
          <a:custGeom>
            <a:avLst/>
            <a:gdLst/>
            <a:ahLst/>
            <a:cxnLst/>
            <a:rect l="l" t="t" r="r" b="b"/>
            <a:pathLst>
              <a:path w="7328321" h="13756234">
                <a:moveTo>
                  <a:pt x="0" y="0"/>
                </a:moveTo>
                <a:lnTo>
                  <a:pt x="7328321" y="0"/>
                </a:lnTo>
                <a:lnTo>
                  <a:pt x="7328321" y="13756234"/>
                </a:lnTo>
                <a:lnTo>
                  <a:pt x="0" y="1375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249929" y="-194389"/>
            <a:ext cx="10079892" cy="10675779"/>
            <a:chOff x="0" y="0"/>
            <a:chExt cx="4369816" cy="4628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9816" cy="4628144"/>
            </a:xfrm>
            <a:custGeom>
              <a:avLst/>
              <a:gdLst/>
              <a:ahLst/>
              <a:cxnLst/>
              <a:rect l="l" t="t" r="r" b="b"/>
              <a:pathLst>
                <a:path w="4369816" h="4628144">
                  <a:moveTo>
                    <a:pt x="0" y="0"/>
                  </a:moveTo>
                  <a:lnTo>
                    <a:pt x="4369816" y="0"/>
                  </a:lnTo>
                  <a:lnTo>
                    <a:pt x="4369816" y="4628144"/>
                  </a:lnTo>
                  <a:lnTo>
                    <a:pt x="0" y="4628144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1174" y="-194389"/>
            <a:ext cx="8115300" cy="97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5400" b="1" spc="67" dirty="0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Research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8274" y="904313"/>
            <a:ext cx="8115300" cy="937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200" b="1" dirty="0"/>
              <a:t>Data Quality and Availability:</a:t>
            </a:r>
            <a:endParaRPr lang="en-US" sz="2200" dirty="0"/>
          </a:p>
          <a:p>
            <a:pPr lvl="1"/>
            <a:r>
              <a:rPr lang="en-US" sz="2200" dirty="0"/>
              <a:t>Chest X-ray datasets for diseases like </a:t>
            </a:r>
            <a:r>
              <a:rPr lang="en-US" sz="2200" b="1" dirty="0"/>
              <a:t>COVID-19</a:t>
            </a:r>
            <a:r>
              <a:rPr lang="en-US" sz="2200" dirty="0"/>
              <a:t>, </a:t>
            </a:r>
            <a:r>
              <a:rPr lang="en-US" sz="2200" b="1" dirty="0"/>
              <a:t>pneumonia</a:t>
            </a:r>
            <a:r>
              <a:rPr lang="en-US" sz="2200" dirty="0"/>
              <a:t>, and </a:t>
            </a:r>
            <a:r>
              <a:rPr lang="en-US" sz="2200" b="1" dirty="0"/>
              <a:t>TB</a:t>
            </a:r>
            <a:r>
              <a:rPr lang="en-US" sz="2200" dirty="0"/>
              <a:t> are often limited in size, quality, and diversity, affecting the model’s generalization ability and robustness. Data annotation can also be inconsistent across different datasets.</a:t>
            </a:r>
          </a:p>
          <a:p>
            <a:r>
              <a:rPr lang="en-US" sz="2200" b="1" dirty="0"/>
              <a:t>Class Imbalance:</a:t>
            </a:r>
            <a:endParaRPr lang="en-US" sz="2200" dirty="0"/>
          </a:p>
          <a:p>
            <a:pPr lvl="1"/>
            <a:r>
              <a:rPr lang="en-US" sz="2200" dirty="0"/>
              <a:t>Respiratory disease datasets often suffer from </a:t>
            </a:r>
            <a:r>
              <a:rPr lang="en-US" sz="2200" b="1" dirty="0"/>
              <a:t>class imbalance</a:t>
            </a:r>
            <a:r>
              <a:rPr lang="en-US" sz="2200" dirty="0"/>
              <a:t>, where certain diseases (e.g., </a:t>
            </a:r>
            <a:r>
              <a:rPr lang="en-US" sz="2200" b="1" dirty="0"/>
              <a:t>COVID-19</a:t>
            </a:r>
            <a:r>
              <a:rPr lang="en-US" sz="2200" dirty="0"/>
              <a:t>) may have fewer images compared to others (e.g., </a:t>
            </a:r>
            <a:r>
              <a:rPr lang="en-US" sz="2200" b="1" dirty="0"/>
              <a:t>pneumonia</a:t>
            </a:r>
            <a:r>
              <a:rPr lang="en-US" sz="2200" dirty="0"/>
              <a:t>), making it harder for the model to learn underrepresented classes.</a:t>
            </a:r>
          </a:p>
          <a:p>
            <a:r>
              <a:rPr lang="en-US" sz="2200" b="1" dirty="0"/>
              <a:t>Model Interpretability:</a:t>
            </a:r>
            <a:endParaRPr lang="en-US" sz="2200" dirty="0"/>
          </a:p>
          <a:p>
            <a:pPr lvl="1"/>
            <a:r>
              <a:rPr lang="en-US" sz="2200" dirty="0"/>
              <a:t>Deep learning models, particularly </a:t>
            </a:r>
            <a:r>
              <a:rPr lang="en-US" sz="2200" b="1" dirty="0"/>
              <a:t>convolutional neural networks (CNNs)</a:t>
            </a:r>
            <a:r>
              <a:rPr lang="en-US" sz="2200" dirty="0"/>
              <a:t> like </a:t>
            </a:r>
            <a:r>
              <a:rPr lang="en-US" sz="2200" b="1" dirty="0"/>
              <a:t>DenseNet121</a:t>
            </a:r>
            <a:r>
              <a:rPr lang="en-US" sz="2200" dirty="0"/>
              <a:t>, operate as "black boxes." Without clear interpretability, it’s challenging for healthcare professionals to trust and validate the model’s predictions, which is critical in clinical applications.</a:t>
            </a:r>
          </a:p>
          <a:p>
            <a:r>
              <a:rPr lang="en-US" sz="2200" b="1" dirty="0"/>
              <a:t>Real-World Deployment:</a:t>
            </a:r>
            <a:endParaRPr lang="en-US" sz="2200" dirty="0"/>
          </a:p>
          <a:p>
            <a:pPr lvl="1"/>
            <a:r>
              <a:rPr lang="en-US" sz="2200" dirty="0"/>
              <a:t>Deploying AI-based solutions in healthcare settings faces logistical and regulatory challenges, including </a:t>
            </a:r>
            <a:r>
              <a:rPr lang="en-US" sz="2200" b="1" dirty="0"/>
              <a:t>data privacy</a:t>
            </a:r>
            <a:r>
              <a:rPr lang="en-US" sz="2200" dirty="0"/>
              <a:t>, </a:t>
            </a:r>
            <a:r>
              <a:rPr lang="en-US" sz="2200" b="1" dirty="0"/>
              <a:t>model robustness</a:t>
            </a:r>
            <a:r>
              <a:rPr lang="en-US" sz="2200" dirty="0"/>
              <a:t> under real-world conditions, and </a:t>
            </a:r>
            <a:r>
              <a:rPr lang="en-US" sz="2200" b="1" dirty="0"/>
              <a:t>integration into existing healthcare systems</a:t>
            </a:r>
            <a:r>
              <a:rPr lang="en-US" sz="2200" dirty="0"/>
              <a:t>.</a:t>
            </a:r>
          </a:p>
          <a:p>
            <a:r>
              <a:rPr lang="en-US" sz="2200" b="1" dirty="0"/>
              <a:t>Generalization to New Variants:</a:t>
            </a:r>
            <a:endParaRPr lang="en-US" sz="2200" dirty="0"/>
          </a:p>
          <a:p>
            <a:pPr lvl="1"/>
            <a:r>
              <a:rPr lang="en-US" sz="2200" dirty="0"/>
              <a:t>The ability of the model to generalize across new variants of diseases, such as novel strains of </a:t>
            </a:r>
            <a:r>
              <a:rPr lang="en-US" sz="2200" b="1" dirty="0"/>
              <a:t>COVID-19</a:t>
            </a:r>
            <a:r>
              <a:rPr lang="en-US" sz="2200" dirty="0"/>
              <a:t>, is crucial. Ensuring the model can maintain high accuracy as new data becomes available is a continuous challenge.</a:t>
            </a:r>
          </a:p>
          <a:p>
            <a:pPr algn="l">
              <a:lnSpc>
                <a:spcPts val="5319"/>
              </a:lnSpc>
            </a:pPr>
            <a:endParaRPr lang="en-US" sz="2200" dirty="0">
              <a:solidFill>
                <a:srgbClr val="1C737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Freeform 7"/>
          <p:cNvSpPr/>
          <p:nvPr/>
        </p:nvSpPr>
        <p:spPr>
          <a:xfrm rot="10500000">
            <a:off x="-2524136" y="8477491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9" y="0"/>
                </a:lnTo>
                <a:lnTo>
                  <a:pt x="5893519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5100000">
            <a:off x="14819493" y="-2463409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19129" y="2277349"/>
            <a:ext cx="7354195" cy="6137410"/>
          </a:xfrm>
          <a:custGeom>
            <a:avLst/>
            <a:gdLst/>
            <a:ahLst/>
            <a:cxnLst/>
            <a:rect l="l" t="t" r="r" b="b"/>
            <a:pathLst>
              <a:path w="7354195" h="6137410">
                <a:moveTo>
                  <a:pt x="0" y="0"/>
                </a:moveTo>
                <a:lnTo>
                  <a:pt x="7354195" y="0"/>
                </a:lnTo>
                <a:lnTo>
                  <a:pt x="7354195" y="6137410"/>
                </a:lnTo>
                <a:lnTo>
                  <a:pt x="0" y="6137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4621281" y="2958399"/>
            <a:ext cx="4374805" cy="8717909"/>
          </a:xfrm>
          <a:custGeom>
            <a:avLst/>
            <a:gdLst/>
            <a:ahLst/>
            <a:cxnLst/>
            <a:rect l="l" t="t" r="r" b="b"/>
            <a:pathLst>
              <a:path w="4374805" h="8717909">
                <a:moveTo>
                  <a:pt x="0" y="0"/>
                </a:moveTo>
                <a:lnTo>
                  <a:pt x="4374805" y="0"/>
                </a:lnTo>
                <a:lnTo>
                  <a:pt x="4374805" y="8717909"/>
                </a:lnTo>
                <a:lnTo>
                  <a:pt x="0" y="8717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185866" y="0"/>
            <a:ext cx="9199540" cy="10521774"/>
            <a:chOff x="0" y="0"/>
            <a:chExt cx="3988167" cy="45613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88167" cy="4561380"/>
            </a:xfrm>
            <a:custGeom>
              <a:avLst/>
              <a:gdLst/>
              <a:ahLst/>
              <a:cxnLst/>
              <a:rect l="l" t="t" r="r" b="b"/>
              <a:pathLst>
                <a:path w="3988167" h="4561380">
                  <a:moveTo>
                    <a:pt x="0" y="0"/>
                  </a:moveTo>
                  <a:lnTo>
                    <a:pt x="3988167" y="0"/>
                  </a:lnTo>
                  <a:lnTo>
                    <a:pt x="3988167" y="4561380"/>
                  </a:lnTo>
                  <a:lnTo>
                    <a:pt x="0" y="456138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668000" y="2005"/>
            <a:ext cx="7431677" cy="98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000" b="1" spc="67" dirty="0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Research Objective</a:t>
            </a:r>
          </a:p>
        </p:txBody>
      </p:sp>
      <p:sp>
        <p:nvSpPr>
          <p:cNvPr id="8" name="Freeform 8"/>
          <p:cNvSpPr/>
          <p:nvPr/>
        </p:nvSpPr>
        <p:spPr>
          <a:xfrm rot="7920000">
            <a:off x="14275594" y="8369075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8" y="0"/>
                </a:lnTo>
                <a:lnTo>
                  <a:pt x="5893518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3900000">
            <a:off x="-3214561" y="-2836555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36520D0-B48F-D197-873D-49ABC821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322" y="981096"/>
            <a:ext cx="8922646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Multi-Disease Chest X-ray Classifier: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deep learning model integrated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DenseNet121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CBAM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automatically classify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Pneumonia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COVID-19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Lung Opacity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chest X-ray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Model Interpretability with Explainable AI: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visualize the regions of the X-ray images that influenced the model's decision, aiding clinical decision-making by providing transparent, explainable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Diagnostic Accuracy: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improving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robustness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model by addressing challenges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imbalance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 Early Disease Detection: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that the model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fast, scalable, and accurate diagnostics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supporting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intervention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helping to reduce diagnostic time and errors, particularly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resource-limited settings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Real-World Impact: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 the model’s potential for deployment in real-world clinical environments and its ability to improve the efficiency and accuracy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radiologists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diagnosing respiratory diseases from chest X-rays.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5904" y="1028700"/>
            <a:ext cx="7224198" cy="10797035"/>
          </a:xfrm>
          <a:custGeom>
            <a:avLst/>
            <a:gdLst/>
            <a:ahLst/>
            <a:cxnLst/>
            <a:rect l="l" t="t" r="r" b="b"/>
            <a:pathLst>
              <a:path w="7224198" h="10797035">
                <a:moveTo>
                  <a:pt x="0" y="0"/>
                </a:moveTo>
                <a:lnTo>
                  <a:pt x="7224197" y="0"/>
                </a:lnTo>
                <a:lnTo>
                  <a:pt x="7224197" y="10797035"/>
                </a:lnTo>
                <a:lnTo>
                  <a:pt x="0" y="10797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-102336"/>
            <a:ext cx="10079892" cy="10675779"/>
            <a:chOff x="0" y="0"/>
            <a:chExt cx="4369816" cy="4628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9816" cy="4628144"/>
            </a:xfrm>
            <a:custGeom>
              <a:avLst/>
              <a:gdLst/>
              <a:ahLst/>
              <a:cxnLst/>
              <a:rect l="l" t="t" r="r" b="b"/>
              <a:pathLst>
                <a:path w="4369816" h="4628144">
                  <a:moveTo>
                    <a:pt x="0" y="0"/>
                  </a:moveTo>
                  <a:lnTo>
                    <a:pt x="4369816" y="0"/>
                  </a:lnTo>
                  <a:lnTo>
                    <a:pt x="4369816" y="4628144"/>
                  </a:lnTo>
                  <a:lnTo>
                    <a:pt x="0" y="4628144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27872" y="122410"/>
            <a:ext cx="8115300" cy="101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 spc="67" dirty="0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Methodology</a:t>
            </a:r>
          </a:p>
        </p:txBody>
      </p:sp>
      <p:sp>
        <p:nvSpPr>
          <p:cNvPr id="7" name="Freeform 7"/>
          <p:cNvSpPr/>
          <p:nvPr/>
        </p:nvSpPr>
        <p:spPr>
          <a:xfrm rot="10500000">
            <a:off x="-2524136" y="8477491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9" y="0"/>
                </a:lnTo>
                <a:lnTo>
                  <a:pt x="5893519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5100000">
            <a:off x="14819493" y="-2463409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660221C-5F90-C316-5DBB-8ED630D84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46" y="1232676"/>
            <a:ext cx="9448800" cy="849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is trained on publicly available chest X-ray datasets for diseases like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Pneumonia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Tuberculosis (TB)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COVID-19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Lung Opacity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Resize images to 224x224 pixels.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 pixel values to [0, 1].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dataset into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80% training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20% validation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data augmentation techniques (rotation, zoom, flips).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Architecture: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DenseNet121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backbone with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CBAM (Channel &amp; Spatial Attention)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feature extraction.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layer: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multi-class classification (4 diseases).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Sparse categorical cross-entropy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loss with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Adam optimizer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visualizing model focus areas on chest X-ray images, aiding clinical interpretation.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automated screening for large-scale diagnostic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61330" y="-94175"/>
            <a:ext cx="9365354" cy="10521774"/>
            <a:chOff x="0" y="0"/>
            <a:chExt cx="4060051" cy="45613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0051" cy="4561380"/>
            </a:xfrm>
            <a:custGeom>
              <a:avLst/>
              <a:gdLst/>
              <a:ahLst/>
              <a:cxnLst/>
              <a:rect l="l" t="t" r="r" b="b"/>
              <a:pathLst>
                <a:path w="4060051" h="4561380">
                  <a:moveTo>
                    <a:pt x="0" y="0"/>
                  </a:moveTo>
                  <a:lnTo>
                    <a:pt x="4060051" y="0"/>
                  </a:lnTo>
                  <a:lnTo>
                    <a:pt x="4060051" y="4561380"/>
                  </a:lnTo>
                  <a:lnTo>
                    <a:pt x="0" y="456138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 rot="78320">
            <a:off x="461369" y="2439953"/>
            <a:ext cx="8446998" cy="8324132"/>
          </a:xfrm>
          <a:custGeom>
            <a:avLst/>
            <a:gdLst/>
            <a:ahLst/>
            <a:cxnLst/>
            <a:rect l="l" t="t" r="r" b="b"/>
            <a:pathLst>
              <a:path w="8446998" h="8324132">
                <a:moveTo>
                  <a:pt x="0" y="0"/>
                </a:moveTo>
                <a:lnTo>
                  <a:pt x="8446998" y="0"/>
                </a:lnTo>
                <a:lnTo>
                  <a:pt x="8446998" y="8324132"/>
                </a:lnTo>
                <a:lnTo>
                  <a:pt x="0" y="8324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9926996" y="1000125"/>
            <a:ext cx="7541854" cy="101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6799" b="1" spc="67" dirty="0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</a:t>
            </a:r>
          </a:p>
        </p:txBody>
      </p:sp>
      <p:sp>
        <p:nvSpPr>
          <p:cNvPr id="15" name="Freeform 15"/>
          <p:cNvSpPr/>
          <p:nvPr/>
        </p:nvSpPr>
        <p:spPr>
          <a:xfrm rot="7920000">
            <a:off x="14275594" y="8369075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8" y="0"/>
                </a:lnTo>
                <a:lnTo>
                  <a:pt x="5893518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rot="-3900000">
            <a:off x="-3214561" y="-2836555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2AC259-5152-25EB-EE4F-76440BA61982}"/>
              </a:ext>
            </a:extLst>
          </p:cNvPr>
          <p:cNvSpPr txBox="1"/>
          <p:nvPr/>
        </p:nvSpPr>
        <p:spPr>
          <a:xfrm>
            <a:off x="9631721" y="1638300"/>
            <a:ext cx="8132404" cy="7646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3300"/>
              </a:lnSpc>
              <a:spcAft>
                <a:spcPts val="1200"/>
              </a:spcAft>
            </a:pPr>
            <a:r>
              <a:rPr lang="en-US" sz="2400" b="1" i="0" dirty="0">
                <a:solidFill>
                  <a:srgbClr val="202124"/>
                </a:solidFill>
                <a:effectLst/>
                <a:latin typeface="zeitung"/>
              </a:rPr>
              <a:t>Dataset 1:</a:t>
            </a:r>
          </a:p>
          <a:p>
            <a:pPr algn="l" fontAlgn="base">
              <a:lnSpc>
                <a:spcPts val="3300"/>
              </a:lnSpc>
              <a:spcAft>
                <a:spcPts val="1200"/>
              </a:spcAft>
            </a:pPr>
            <a:r>
              <a:rPr lang="en-US" sz="2400" b="1" i="0" dirty="0">
                <a:solidFill>
                  <a:srgbClr val="202124"/>
                </a:solidFill>
                <a:effectLst/>
                <a:latin typeface="zeitung"/>
              </a:rPr>
              <a:t>Tuberculosis (TB) Chest X-ray Database </a:t>
            </a:r>
          </a:p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sz="2400" b="1" dirty="0">
                <a:solidFill>
                  <a:srgbClr val="202124"/>
                </a:solidFill>
                <a:latin typeface="zeitung"/>
              </a:rPr>
              <a:t> link: </a:t>
            </a:r>
            <a:r>
              <a:rPr lang="en-US" sz="2400" b="1" dirty="0">
                <a:solidFill>
                  <a:srgbClr val="202124"/>
                </a:solidFill>
                <a:latin typeface="zeitung"/>
                <a:hlinkClick r:id="rId8"/>
              </a:rPr>
              <a:t>https://www.kaggle.com/datasets/tawsifurrahman/tuberculosis-tb-chest-xray-dataset</a:t>
            </a:r>
            <a:endParaRPr lang="en-US" sz="2400" b="1" i="0" dirty="0">
              <a:solidFill>
                <a:srgbClr val="202124"/>
              </a:solidFill>
              <a:effectLst/>
              <a:latin typeface="zeitung"/>
            </a:endParaRPr>
          </a:p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sz="2400" b="1" dirty="0">
                <a:solidFill>
                  <a:srgbClr val="202124"/>
                </a:solidFill>
                <a:latin typeface="zeitung"/>
              </a:rPr>
              <a:t>Dataset 2:</a:t>
            </a:r>
          </a:p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IN" sz="2400" b="1" dirty="0"/>
              <a:t>COVID-19 Radiography Database</a:t>
            </a:r>
          </a:p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sz="2400" b="1" dirty="0">
                <a:solidFill>
                  <a:srgbClr val="202124"/>
                </a:solidFill>
                <a:latin typeface="zeitung"/>
              </a:rPr>
              <a:t>Link: </a:t>
            </a:r>
            <a:r>
              <a:rPr lang="en-US" sz="2400" b="1" dirty="0">
                <a:solidFill>
                  <a:srgbClr val="202124"/>
                </a:solidFill>
                <a:latin typeface="zeitung"/>
                <a:hlinkClick r:id="rId9"/>
              </a:rPr>
              <a:t>https://www.kaggle.com/datasets/tawsifurrahman/covid19-radiography-database</a:t>
            </a:r>
            <a:endParaRPr lang="en-US" sz="2400" b="1" dirty="0">
              <a:solidFill>
                <a:srgbClr val="202124"/>
              </a:solidFill>
              <a:latin typeface="zeitung"/>
            </a:endParaRPr>
          </a:p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sz="2400" b="1" dirty="0">
                <a:solidFill>
                  <a:srgbClr val="202124"/>
                </a:solidFill>
                <a:latin typeface="zeitung"/>
              </a:rPr>
              <a:t>Dataset 3:</a:t>
            </a:r>
          </a:p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IN" sz="2400" b="1" dirty="0" err="1"/>
              <a:t>ChestX</a:t>
            </a:r>
            <a:r>
              <a:rPr lang="en-IN" sz="2400" b="1" dirty="0"/>
              <a:t>-Det-Dataset</a:t>
            </a:r>
            <a:endParaRPr lang="en-US" sz="2400" b="1" dirty="0">
              <a:solidFill>
                <a:srgbClr val="202124"/>
              </a:solidFill>
              <a:latin typeface="zeitung"/>
            </a:endParaRPr>
          </a:p>
          <a:p>
            <a:pPr fontAlgn="base">
              <a:lnSpc>
                <a:spcPts val="3300"/>
              </a:lnSpc>
              <a:spcAft>
                <a:spcPts val="1200"/>
              </a:spcAft>
            </a:pPr>
            <a:r>
              <a:rPr lang="en-US" sz="2400" b="1" dirty="0">
                <a:solidFill>
                  <a:srgbClr val="202124"/>
                </a:solidFill>
                <a:latin typeface="zeitung"/>
              </a:rPr>
              <a:t>Link: https://www.kaggle.com/datasets/mathurinache/chestxdetdataset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BC0A-7340-A721-7783-738396C3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D4D03E-DB2B-4E6F-2C5F-1A10807344EC}"/>
              </a:ext>
            </a:extLst>
          </p:cNvPr>
          <p:cNvSpPr/>
          <p:nvPr/>
        </p:nvSpPr>
        <p:spPr>
          <a:xfrm>
            <a:off x="10425904" y="1028700"/>
            <a:ext cx="7224198" cy="10797035"/>
          </a:xfrm>
          <a:custGeom>
            <a:avLst/>
            <a:gdLst/>
            <a:ahLst/>
            <a:cxnLst/>
            <a:rect l="l" t="t" r="r" b="b"/>
            <a:pathLst>
              <a:path w="7224198" h="10797035">
                <a:moveTo>
                  <a:pt x="0" y="0"/>
                </a:moveTo>
                <a:lnTo>
                  <a:pt x="7224197" y="0"/>
                </a:lnTo>
                <a:lnTo>
                  <a:pt x="7224197" y="10797035"/>
                </a:lnTo>
                <a:lnTo>
                  <a:pt x="0" y="10797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FC2CD3-2078-23BF-AEF5-8E1C5461B752}"/>
              </a:ext>
            </a:extLst>
          </p:cNvPr>
          <p:cNvGrpSpPr/>
          <p:nvPr/>
        </p:nvGrpSpPr>
        <p:grpSpPr>
          <a:xfrm>
            <a:off x="0" y="-102336"/>
            <a:ext cx="10079892" cy="10675779"/>
            <a:chOff x="0" y="0"/>
            <a:chExt cx="4369816" cy="462814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1288574-1F9D-1CE3-65FF-450351E5BC6D}"/>
                </a:ext>
              </a:extLst>
            </p:cNvPr>
            <p:cNvSpPr/>
            <p:nvPr/>
          </p:nvSpPr>
          <p:spPr>
            <a:xfrm>
              <a:off x="0" y="0"/>
              <a:ext cx="4369816" cy="4628144"/>
            </a:xfrm>
            <a:custGeom>
              <a:avLst/>
              <a:gdLst/>
              <a:ahLst/>
              <a:cxnLst/>
              <a:rect l="l" t="t" r="r" b="b"/>
              <a:pathLst>
                <a:path w="4369816" h="4628144">
                  <a:moveTo>
                    <a:pt x="0" y="0"/>
                  </a:moveTo>
                  <a:lnTo>
                    <a:pt x="4369816" y="0"/>
                  </a:lnTo>
                  <a:lnTo>
                    <a:pt x="4369816" y="4628144"/>
                  </a:lnTo>
                  <a:lnTo>
                    <a:pt x="0" y="4628144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0824482-C85E-46AA-A0E9-2C4649926E70}"/>
              </a:ext>
            </a:extLst>
          </p:cNvPr>
          <p:cNvSpPr txBox="1"/>
          <p:nvPr/>
        </p:nvSpPr>
        <p:spPr>
          <a:xfrm>
            <a:off x="2327872" y="122410"/>
            <a:ext cx="8115300" cy="101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 spc="67" dirty="0" err="1">
                <a:solidFill>
                  <a:srgbClr val="1C737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Refrences</a:t>
            </a:r>
            <a:endParaRPr lang="en-US" sz="6799" b="1" spc="67" dirty="0">
              <a:solidFill>
                <a:srgbClr val="1C7378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19157AE-8B4E-4744-DBAC-82341545B8DF}"/>
              </a:ext>
            </a:extLst>
          </p:cNvPr>
          <p:cNvSpPr/>
          <p:nvPr/>
        </p:nvSpPr>
        <p:spPr>
          <a:xfrm rot="10500000">
            <a:off x="-2524136" y="8477491"/>
            <a:ext cx="5893518" cy="5732786"/>
          </a:xfrm>
          <a:custGeom>
            <a:avLst/>
            <a:gdLst/>
            <a:ahLst/>
            <a:cxnLst/>
            <a:rect l="l" t="t" r="r" b="b"/>
            <a:pathLst>
              <a:path w="5893518" h="5732786">
                <a:moveTo>
                  <a:pt x="0" y="0"/>
                </a:moveTo>
                <a:lnTo>
                  <a:pt x="5893519" y="0"/>
                </a:lnTo>
                <a:lnTo>
                  <a:pt x="5893519" y="5732786"/>
                </a:lnTo>
                <a:lnTo>
                  <a:pt x="0" y="573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B591DA-88CA-F7AD-B01B-B64F59822DF6}"/>
              </a:ext>
            </a:extLst>
          </p:cNvPr>
          <p:cNvSpPr/>
          <p:nvPr/>
        </p:nvSpPr>
        <p:spPr>
          <a:xfrm rot="-5100000">
            <a:off x="14819493" y="-2463409"/>
            <a:ext cx="6429122" cy="6183646"/>
          </a:xfrm>
          <a:custGeom>
            <a:avLst/>
            <a:gdLst/>
            <a:ahLst/>
            <a:cxnLst/>
            <a:rect l="l" t="t" r="r" b="b"/>
            <a:pathLst>
              <a:path w="6429122" h="6183646">
                <a:moveTo>
                  <a:pt x="0" y="0"/>
                </a:moveTo>
                <a:lnTo>
                  <a:pt x="6429122" y="0"/>
                </a:lnTo>
                <a:lnTo>
                  <a:pt x="6429122" y="6183647"/>
                </a:lnTo>
                <a:lnTo>
                  <a:pt x="0" y="618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E48DE1-75F7-DBCB-41EA-A16735A7C3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7186" y="1401952"/>
            <a:ext cx="9448800" cy="7786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Rajaraman, A., &amp;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Sivaswamy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(2020).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for Chest X-ray Analysis: A Survey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Access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8, 191462-191485.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paper reviews the application of deep learning techniques, including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for chest X-ray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Hemalatha, S., &amp; Shashidhar, M. V.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(2020).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COVID-19 Chest X-ray Classification Using Deep Convolutional Neural Networks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Medical Imaging and Health Informatics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10(3), 567-573.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study explores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COVID-19 detection in chest X-ray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Litjens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Kooi, T.,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Bejnordi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B. E., 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(2017).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Survey on Deep Learning in Medical Image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Image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42, 60-88.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survey covers deep learning techniques applied to medical image analysis, including chest X-rays.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Kumar, R., &amp; Narayan, N. 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(2020).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Multi-Class Chest X-ray Classification Using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DenseNet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CBAM Attention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International Conference on Medical Imaging and Computational Methods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(pp. 23-31).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paper investigates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CBAM for multi-class chest X-ray disease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Ribeiro, M. T., Singh, S., &amp; Ghosh, K.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(2016).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Should I Trust You? Explaining the Predictions of Any 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22nd ACM SIGKDD International Conference on Knowledge Discovery and Data Mining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1135-1144.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paper introduces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method for explaining predictions of convolutional neural networks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31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2118</Words>
  <Application>Microsoft Office PowerPoint</Application>
  <PresentationFormat>Custom</PresentationFormat>
  <Paragraphs>145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Times New Roman</vt:lpstr>
      <vt:lpstr>Proxima Nova Bold</vt:lpstr>
      <vt:lpstr>Calibri</vt:lpstr>
      <vt:lpstr>Arial</vt:lpstr>
      <vt:lpstr>Proxima Nova</vt:lpstr>
      <vt:lpstr>zeitung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Orange Blue Creative Healthcare Facility Presentation</dc:title>
  <cp:lastModifiedBy>Raj Koyani</cp:lastModifiedBy>
  <cp:revision>5</cp:revision>
  <dcterms:created xsi:type="dcterms:W3CDTF">2006-08-16T00:00:00Z</dcterms:created>
  <dcterms:modified xsi:type="dcterms:W3CDTF">2025-09-16T07:39:29Z</dcterms:modified>
  <dc:identifier>DAGvFbiQDR8</dc:identifier>
</cp:coreProperties>
</file>